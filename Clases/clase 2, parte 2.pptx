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317" r:id="rId3"/>
    <p:sldId id="318" r:id="rId4"/>
    <p:sldId id="257" r:id="rId5"/>
    <p:sldId id="320" r:id="rId6"/>
    <p:sldId id="319" r:id="rId7"/>
    <p:sldId id="322" r:id="rId8"/>
    <p:sldId id="321" r:id="rId9"/>
    <p:sldId id="323" r:id="rId10"/>
    <p:sldId id="325" r:id="rId11"/>
    <p:sldId id="324" r:id="rId12"/>
    <p:sldId id="326" r:id="rId13"/>
    <p:sldId id="328" r:id="rId14"/>
    <p:sldId id="315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1958" autoAdjust="0"/>
  </p:normalViewPr>
  <p:slideViewPr>
    <p:cSldViewPr>
      <p:cViewPr varScale="1">
        <p:scale>
          <a:sx n="114" d="100"/>
          <a:sy n="114" d="100"/>
        </p:scale>
        <p:origin x="1752" y="1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DBB39C-80FD-48F3-A897-12DC2177286D}" type="datetimeFigureOut">
              <a:rPr lang="en-US" smtClean="0"/>
              <a:t>8/13/26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DE21B3-6AF7-4B2B-911A-948CD11543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9057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834FC-4B6B-4403-88B0-11079102E08A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85FBF-3F79-4A03-8ED4-CF76A4DF08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580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834FC-4B6B-4403-88B0-11079102E08A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85FBF-3F79-4A03-8ED4-CF76A4DF08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834FC-4B6B-4403-88B0-11079102E08A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85FBF-3F79-4A03-8ED4-CF76A4DF08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6572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834FC-4B6B-4403-88B0-11079102E08A}" type="datetimeFigureOut">
              <a:rPr lang="en-US" smtClean="0"/>
              <a:t>8/13/26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85FBF-3F79-4A03-8ED4-CF76A4DF08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16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834FC-4B6B-4403-88B0-11079102E08A}" type="datetimeFigureOut">
              <a:rPr lang="en-US" smtClean="0"/>
              <a:t>8/13/26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85FBF-3F79-4A03-8ED4-CF76A4DF08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705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834FC-4B6B-4403-88B0-11079102E08A}" type="datetimeFigureOut">
              <a:rPr lang="en-US" smtClean="0"/>
              <a:t>8/13/26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85FBF-3F79-4A03-8ED4-CF76A4DF08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4442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834FC-4B6B-4403-88B0-11079102E08A}" type="datetimeFigureOut">
              <a:rPr lang="en-US" smtClean="0"/>
              <a:t>8/13/26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85FBF-3F79-4A03-8ED4-CF76A4DF08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1390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834FC-4B6B-4403-88B0-11079102E08A}" type="datetimeFigureOut">
              <a:rPr lang="en-US" smtClean="0"/>
              <a:t>8/13/26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85FBF-3F79-4A03-8ED4-CF76A4DF08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6631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834FC-4B6B-4403-88B0-11079102E08A}" type="datetimeFigureOut">
              <a:rPr lang="en-US" smtClean="0"/>
              <a:t>8/13/26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85FBF-3F79-4A03-8ED4-CF76A4DF08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162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834FC-4B6B-4403-88B0-11079102E08A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85FBF-3F79-4A03-8ED4-CF76A4DF08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806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834FC-4B6B-4403-88B0-11079102E08A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85FBF-3F79-4A03-8ED4-CF76A4DF08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387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2834FC-4B6B-4403-88B0-11079102E08A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A85FBF-3F79-4A03-8ED4-CF76A4DF08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021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ocuco.org/" TargetMode="External"/><Relationship Id="rId2" Type="http://schemas.openxmlformats.org/officeDocument/2006/relationships/hyperlink" Target="mailto:tagliazucchi.enzo@googlemail.com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28600" y="4267200"/>
            <a:ext cx="6096000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AR" sz="2000" dirty="0">
              <a:latin typeface="Bahnschrift SemiBold" pitchFamily="34" charset="0"/>
            </a:endParaRPr>
          </a:p>
          <a:p>
            <a:r>
              <a:rPr lang="es-AR" sz="2400" dirty="0">
                <a:latin typeface="Bahnschrift SemiBold" pitchFamily="34" charset="0"/>
              </a:rPr>
              <a:t>Prof. Enzo </a:t>
            </a:r>
            <a:r>
              <a:rPr lang="es-AR" sz="2400" dirty="0" err="1">
                <a:latin typeface="Bahnschrift SemiBold" pitchFamily="34" charset="0"/>
              </a:rPr>
              <a:t>Tagliazucchi</a:t>
            </a:r>
            <a:endParaRPr lang="es-AR" sz="2400" dirty="0">
              <a:latin typeface="Bahnschrift SemiBold" pitchFamily="34" charset="0"/>
            </a:endParaRPr>
          </a:p>
          <a:p>
            <a:endParaRPr lang="es-AR" sz="2400" dirty="0">
              <a:latin typeface="Bahnschrift SemiBold" pitchFamily="34" charset="0"/>
            </a:endParaRPr>
          </a:p>
          <a:p>
            <a:r>
              <a:rPr lang="es-AR" sz="2400" dirty="0" err="1">
                <a:latin typeface="Bahnschrift SemiBold" pitchFamily="34" charset="0"/>
                <a:hlinkClick r:id="rId2"/>
              </a:rPr>
              <a:t>tagliazucchi.enzo</a:t>
            </a:r>
            <a:r>
              <a:rPr lang="en-US" sz="2400" dirty="0">
                <a:latin typeface="Bahnschrift SemiBold" pitchFamily="34" charset="0"/>
                <a:hlinkClick r:id="rId2"/>
              </a:rPr>
              <a:t>@googlemail.com</a:t>
            </a:r>
            <a:endParaRPr lang="en-US" sz="2400" dirty="0">
              <a:latin typeface="Bahnschrift SemiBold" pitchFamily="34" charset="0"/>
            </a:endParaRPr>
          </a:p>
          <a:p>
            <a:r>
              <a:rPr lang="en-US" sz="2400" dirty="0">
                <a:latin typeface="Bahnschrift SemiBold" pitchFamily="34" charset="0"/>
                <a:hlinkClick r:id="rId3"/>
              </a:rPr>
              <a:t>www.cocuco.org</a:t>
            </a:r>
            <a:r>
              <a:rPr lang="en-US" sz="2400" dirty="0">
                <a:latin typeface="Bahnschrift SemiBold" pitchFamily="34" charset="0"/>
              </a:rPr>
              <a:t> </a:t>
            </a:r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81000" y="257651"/>
            <a:ext cx="8763000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AR" sz="2000" dirty="0">
              <a:latin typeface="Bahnschrift SemiBold" pitchFamily="34" charset="0"/>
            </a:endParaRPr>
          </a:p>
          <a:p>
            <a:r>
              <a:rPr lang="es-AR" sz="4400" dirty="0">
                <a:latin typeface="Bahnschrift SemiBold" pitchFamily="34" charset="0"/>
              </a:rPr>
              <a:t>Laboratorio de datos, clase 1 parte 2</a:t>
            </a:r>
          </a:p>
          <a:p>
            <a:endParaRPr lang="es-AR" sz="4400" dirty="0">
              <a:latin typeface="Bahnschrift SemiBold" pitchFamily="34" charset="0"/>
            </a:endParaRPr>
          </a:p>
          <a:p>
            <a:r>
              <a:rPr lang="es-AR" sz="4400" dirty="0">
                <a:latin typeface="Bahnschrift SemiBold" pitchFamily="34" charset="0"/>
              </a:rPr>
              <a:t>Preparación, estandarización y normalización de datos</a:t>
            </a:r>
          </a:p>
          <a:p>
            <a:endParaRPr lang="es-AR" sz="2400" dirty="0">
              <a:latin typeface="Bahnschrift SemiBold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9788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evel 2"/>
          <p:cNvSpPr/>
          <p:nvPr/>
        </p:nvSpPr>
        <p:spPr>
          <a:xfrm>
            <a:off x="495300" y="1066800"/>
            <a:ext cx="2971800" cy="1600200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723900" y="1371600"/>
            <a:ext cx="25146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dirty="0">
                <a:solidFill>
                  <a:schemeClr val="bg1"/>
                </a:solidFill>
                <a:latin typeface="Bahnschrift SemiBold" pitchFamily="34" charset="0"/>
              </a:rPr>
              <a:t>Identificar el problema y entender cómo resolverlo con datos</a:t>
            </a:r>
          </a:p>
        </p:txBody>
      </p:sp>
      <p:sp>
        <p:nvSpPr>
          <p:cNvPr id="7" name="Bevel 6"/>
          <p:cNvSpPr/>
          <p:nvPr/>
        </p:nvSpPr>
        <p:spPr>
          <a:xfrm>
            <a:off x="4724400" y="1066800"/>
            <a:ext cx="2971800" cy="1600200"/>
          </a:xfrm>
          <a:prstGeom prst="bevel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4953000" y="1371600"/>
            <a:ext cx="25146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dirty="0">
                <a:solidFill>
                  <a:schemeClr val="bg1"/>
                </a:solidFill>
                <a:latin typeface="Bahnschrift SemiBold" pitchFamily="34" charset="0"/>
              </a:rPr>
              <a:t>Conseguir los datos (si existen) o planear un experimento (si no)</a:t>
            </a:r>
          </a:p>
        </p:txBody>
      </p:sp>
      <p:sp>
        <p:nvSpPr>
          <p:cNvPr id="9" name="Bevel 8"/>
          <p:cNvSpPr/>
          <p:nvPr/>
        </p:nvSpPr>
        <p:spPr>
          <a:xfrm>
            <a:off x="5715000" y="3962400"/>
            <a:ext cx="2971800" cy="1600200"/>
          </a:xfrm>
          <a:prstGeom prst="bevel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5943600" y="4267200"/>
            <a:ext cx="25146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dirty="0">
                <a:solidFill>
                  <a:schemeClr val="bg1"/>
                </a:solidFill>
                <a:latin typeface="Bahnschrift SemiBold" pitchFamily="34" charset="0"/>
              </a:rPr>
              <a:t>Explorar los datos, buscar evidencia, desarrollar modelos</a:t>
            </a:r>
          </a:p>
        </p:txBody>
      </p:sp>
      <p:sp>
        <p:nvSpPr>
          <p:cNvPr id="11" name="Bevel 10"/>
          <p:cNvSpPr/>
          <p:nvPr/>
        </p:nvSpPr>
        <p:spPr>
          <a:xfrm>
            <a:off x="1447800" y="3955473"/>
            <a:ext cx="2971800" cy="1600200"/>
          </a:xfrm>
          <a:prstGeom prst="bevel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676400" y="4382869"/>
            <a:ext cx="2514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dirty="0">
                <a:solidFill>
                  <a:schemeClr val="bg1"/>
                </a:solidFill>
                <a:latin typeface="Bahnschrift SemiBold" pitchFamily="34" charset="0"/>
              </a:rPr>
              <a:t>Visualizar y comunicar los resultados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505200" y="1352821"/>
            <a:ext cx="1143000" cy="914400"/>
          </a:xfrm>
          <a:prstGeom prst="rightArrow">
            <a:avLst/>
          </a:prstGeom>
          <a:gradFill>
            <a:gsLst>
              <a:gs pos="0">
                <a:schemeClr val="tx2">
                  <a:lumMod val="60000"/>
                  <a:lumOff val="40000"/>
                </a:schemeClr>
              </a:gs>
              <a:gs pos="0">
                <a:srgbClr val="0070C0"/>
              </a:gs>
              <a:gs pos="100000">
                <a:srgbClr val="FF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ight Arrow 13"/>
          <p:cNvSpPr/>
          <p:nvPr/>
        </p:nvSpPr>
        <p:spPr>
          <a:xfrm rot="3707617">
            <a:off x="6223074" y="2901821"/>
            <a:ext cx="1143000" cy="914400"/>
          </a:xfrm>
          <a:prstGeom prst="rightArrow">
            <a:avLst/>
          </a:prstGeom>
          <a:gradFill>
            <a:gsLst>
              <a:gs pos="13000">
                <a:srgbClr val="E43414"/>
              </a:gs>
              <a:gs pos="0">
                <a:srgbClr val="FF0000"/>
              </a:gs>
              <a:gs pos="100000">
                <a:srgbClr val="92D05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ight Arrow 14"/>
          <p:cNvSpPr/>
          <p:nvPr/>
        </p:nvSpPr>
        <p:spPr>
          <a:xfrm rot="10800000">
            <a:off x="4495800" y="4271665"/>
            <a:ext cx="1143000" cy="914400"/>
          </a:xfrm>
          <a:prstGeom prst="rightArrow">
            <a:avLst/>
          </a:prstGeom>
          <a:gradFill>
            <a:gsLst>
              <a:gs pos="13000">
                <a:srgbClr val="92D050"/>
              </a:gs>
              <a:gs pos="0">
                <a:srgbClr val="92D050"/>
              </a:gs>
              <a:gs pos="100000">
                <a:srgbClr val="FFC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I Have No Idea What I'm Doing | Know Your Mem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257801" cy="3943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Lightning Bolt 1"/>
          <p:cNvSpPr/>
          <p:nvPr/>
        </p:nvSpPr>
        <p:spPr>
          <a:xfrm rot="19991875">
            <a:off x="4392429" y="2512918"/>
            <a:ext cx="2249855" cy="1429466"/>
          </a:xfrm>
          <a:prstGeom prst="lightningBol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206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52400" y="0"/>
            <a:ext cx="8763000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AR" sz="2000" dirty="0">
              <a:latin typeface="Bahnschrift SemiBold" pitchFamily="34" charset="0"/>
            </a:endParaRPr>
          </a:p>
          <a:p>
            <a:pPr algn="ctr"/>
            <a:r>
              <a:rPr lang="es-AR" sz="4400" dirty="0">
                <a:latin typeface="Bahnschrift SemiBold" pitchFamily="34" charset="0"/>
              </a:rPr>
              <a:t>¿Qué vamos a ver hoy?</a:t>
            </a:r>
          </a:p>
          <a:p>
            <a:endParaRPr lang="es-AR" sz="4400" dirty="0">
              <a:latin typeface="Bahnschrift SemiBold" pitchFamily="34" charset="0"/>
            </a:endParaRPr>
          </a:p>
          <a:p>
            <a:endParaRPr lang="es-AR" sz="2400" dirty="0">
              <a:latin typeface="Bahnschrift SemiBold" pitchFamily="34" charset="0"/>
            </a:endParaRPr>
          </a:p>
          <a:p>
            <a:endParaRPr lang="en-US" dirty="0"/>
          </a:p>
        </p:txBody>
      </p:sp>
      <p:sp>
        <p:nvSpPr>
          <p:cNvPr id="5" name="AutoShape 4" descr="70+ &quot;Cicchini&quot; profiles | LinkedI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169430" y="1981200"/>
            <a:ext cx="8136370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AR" sz="2000" dirty="0">
              <a:latin typeface="Bahnschrift SemiBold" pitchFamily="34" charset="0"/>
            </a:endParaRPr>
          </a:p>
          <a:p>
            <a:pPr marL="342900" indent="-342900">
              <a:buFont typeface="Arial" charset="0"/>
              <a:buChar char="•"/>
            </a:pPr>
            <a:r>
              <a:rPr lang="es-AR" sz="2400" dirty="0">
                <a:latin typeface="Bahnschrift SemiBold" pitchFamily="34" charset="0"/>
              </a:rPr>
              <a:t>Por qué los datos no son lo que pensamos que son</a:t>
            </a:r>
          </a:p>
          <a:p>
            <a:pPr marL="342900" indent="-342900" algn="ctr">
              <a:buFont typeface="Arial" charset="0"/>
              <a:buChar char="•"/>
            </a:pPr>
            <a:endParaRPr lang="es-AR" sz="2400" dirty="0">
              <a:latin typeface="Bahnschrift SemiBold" pitchFamily="34" charset="0"/>
            </a:endParaRPr>
          </a:p>
          <a:p>
            <a:pPr marL="342900" indent="-342900">
              <a:buFont typeface="Arial" charset="0"/>
              <a:buChar char="•"/>
            </a:pPr>
            <a:r>
              <a:rPr lang="es-AR" sz="2400" dirty="0">
                <a:latin typeface="Bahnschrift SemiBold" pitchFamily="34" charset="0"/>
              </a:rPr>
              <a:t>Cómo podemos mejorar la calidad de los datos</a:t>
            </a:r>
          </a:p>
          <a:p>
            <a:pPr marL="342900" indent="-342900" algn="ctr">
              <a:buFont typeface="Arial" charset="0"/>
              <a:buChar char="•"/>
            </a:pPr>
            <a:endParaRPr lang="es-AR" sz="2400" dirty="0">
              <a:latin typeface="Bahnschrift SemiBold" pitchFamily="34" charset="0"/>
            </a:endParaRPr>
          </a:p>
          <a:p>
            <a:pPr marL="342900" indent="-342900">
              <a:buFont typeface="Arial" charset="0"/>
              <a:buChar char="•"/>
            </a:pPr>
            <a:r>
              <a:rPr lang="es-AR" sz="2400" dirty="0">
                <a:latin typeface="Bahnschrift SemiBold" pitchFamily="34" charset="0"/>
              </a:rPr>
              <a:t>Cómo podemos hacer que los datos numéricos de distintas fuentes sean más comparables entre sí</a:t>
            </a:r>
          </a:p>
          <a:p>
            <a:pPr marL="342900" indent="-342900" algn="ctr">
              <a:buFont typeface="Arial" charset="0"/>
              <a:buChar char="•"/>
            </a:pPr>
            <a:endParaRPr lang="es-AR" sz="2400" dirty="0">
              <a:latin typeface="Bahnschrift SemiBold" pitchFamily="34" charset="0"/>
            </a:endParaRPr>
          </a:p>
          <a:p>
            <a:pPr marL="342900" indent="-342900" algn="ctr">
              <a:buFont typeface="Arial" charset="0"/>
              <a:buChar char="•"/>
            </a:pPr>
            <a:endParaRPr lang="es-AR" sz="2400" dirty="0">
              <a:latin typeface="Bahnschrift SemiBold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5797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4" descr="70+ &quot;Cicchini&quot; profiles | LinkedI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50" name="Picture 2" descr="Ilustración de iceberg en el océano | Vector Grati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0"/>
            <a:ext cx="6857999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/>
          <p:cNvSpPr txBox="1"/>
          <p:nvPr/>
        </p:nvSpPr>
        <p:spPr>
          <a:xfrm>
            <a:off x="3657600" y="1532692"/>
            <a:ext cx="251460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dirty="0">
                <a:latin typeface="Bahnschrift SemiBold" pitchFamily="34" charset="0"/>
              </a:rPr>
              <a:t>Datos faltantes</a:t>
            </a:r>
          </a:p>
          <a:p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 rot="248176">
            <a:off x="2562224" y="2834639"/>
            <a:ext cx="300037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dirty="0">
                <a:latin typeface="Bahnschrift SemiBold" pitchFamily="34" charset="0"/>
              </a:rPr>
              <a:t>Datos inconsistentes</a:t>
            </a:r>
          </a:p>
          <a:p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 rot="385782">
            <a:off x="3224211" y="3455561"/>
            <a:ext cx="300037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dirty="0">
                <a:latin typeface="Bahnschrift SemiBold" pitchFamily="34" charset="0"/>
              </a:rPr>
              <a:t>Errores de </a:t>
            </a:r>
            <a:r>
              <a:rPr lang="es-AR" sz="2000" dirty="0" err="1">
                <a:latin typeface="Bahnschrift SemiBold" pitchFamily="34" charset="0"/>
              </a:rPr>
              <a:t>tipeo</a:t>
            </a:r>
            <a:endParaRPr lang="es-AR" sz="2000" dirty="0">
              <a:latin typeface="Bahnschrift SemiBold" pitchFamily="34" charset="0"/>
            </a:endParaRPr>
          </a:p>
          <a:p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 rot="321174">
            <a:off x="3320830" y="4936526"/>
            <a:ext cx="3000375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600" dirty="0">
                <a:latin typeface="Bahnschrift SemiBold" pitchFamily="34" charset="0"/>
              </a:rPr>
              <a:t>La persona que ingresa los datos está presa de una creencia errónea sobre el dato y va a actuar en consecuencia como si su vida dependiese de ello</a:t>
            </a:r>
          </a:p>
          <a:p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3476625" y="4152781"/>
            <a:ext cx="3000375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800" dirty="0">
                <a:latin typeface="Bahnschrift SemiBold" pitchFamily="34" charset="0"/>
              </a:rPr>
              <a:t>¿3.4 o 3,4?</a:t>
            </a:r>
          </a:p>
          <a:p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4953000" y="2612586"/>
            <a:ext cx="251460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dirty="0">
                <a:latin typeface="Bahnschrift SemiBold" pitchFamily="34" charset="0"/>
              </a:rPr>
              <a:t>100 cm vs 1 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8401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  <p:bldP spid="20" grpId="0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In Suez Canal, stuck ship is a warning about excessive globalisation |  themanorathastingsfarms.co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7" y="457200"/>
            <a:ext cx="9144000" cy="571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5954" y="1447800"/>
            <a:ext cx="3775646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762000" y="4267200"/>
            <a:ext cx="251460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dirty="0" err="1">
                <a:latin typeface="Bahnschrift SemiBold" pitchFamily="34" charset="0"/>
              </a:rPr>
              <a:t>Labo</a:t>
            </a:r>
            <a:r>
              <a:rPr lang="es-AR" sz="2000" dirty="0">
                <a:latin typeface="Bahnschrift SemiBold" pitchFamily="34" charset="0"/>
              </a:rPr>
              <a:t> de datos 2021</a:t>
            </a:r>
          </a:p>
          <a:p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52400" y="609600"/>
            <a:ext cx="426720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AR" sz="1200" dirty="0">
              <a:latin typeface="Bahnschrift SemiBold" pitchFamily="34" charset="0"/>
            </a:endParaRPr>
          </a:p>
          <a:p>
            <a:r>
              <a:rPr lang="es-AR" sz="2800" dirty="0">
                <a:latin typeface="Bahnschrift SemiBold" pitchFamily="34" charset="0"/>
              </a:rPr>
              <a:t>La mejor manera de evitar estos problemas es reducir la libertad de quien ingresa los datos </a:t>
            </a:r>
          </a:p>
          <a:p>
            <a:endParaRPr lang="es-AR" sz="4400" dirty="0">
              <a:latin typeface="Bahnschrift SemiBold" pitchFamily="34" charset="0"/>
            </a:endParaRPr>
          </a:p>
          <a:p>
            <a:endParaRPr lang="es-AR" sz="2400" dirty="0">
              <a:latin typeface="Bahnschrift SemiBold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7915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3310" y="76200"/>
            <a:ext cx="5398290" cy="670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3200400" y="304800"/>
            <a:ext cx="4267200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AR" sz="1200" dirty="0">
              <a:latin typeface="Bahnschrift SemiBold" pitchFamily="34" charset="0"/>
            </a:endParaRPr>
          </a:p>
          <a:p>
            <a:r>
              <a:rPr lang="es-AR" sz="2000" dirty="0">
                <a:latin typeface="Bahnschrift SemiBold" pitchFamily="34" charset="0"/>
              </a:rPr>
              <a:t>Descartar la observación</a:t>
            </a:r>
          </a:p>
          <a:p>
            <a:endParaRPr lang="es-AR" sz="4400" dirty="0">
              <a:latin typeface="Bahnschrift SemiBold" pitchFamily="34" charset="0"/>
            </a:endParaRPr>
          </a:p>
          <a:p>
            <a:endParaRPr lang="es-AR" sz="2400" dirty="0">
              <a:latin typeface="Bahnschrift SemiBold" pitchFamily="34" charset="0"/>
            </a:endParaRPr>
          </a:p>
          <a:p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200400" y="1977985"/>
            <a:ext cx="3092055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AR" sz="1200" dirty="0">
              <a:latin typeface="Bahnschrift SemiBold" pitchFamily="34" charset="0"/>
            </a:endParaRPr>
          </a:p>
          <a:p>
            <a:r>
              <a:rPr lang="es-AR" sz="2000" dirty="0">
                <a:latin typeface="Bahnschrift SemiBold" pitchFamily="34" charset="0"/>
              </a:rPr>
              <a:t>Reemplazar por la media o la moda</a:t>
            </a:r>
          </a:p>
          <a:p>
            <a:endParaRPr lang="es-AR" sz="4400" dirty="0">
              <a:latin typeface="Bahnschrift SemiBold" pitchFamily="34" charset="0"/>
            </a:endParaRPr>
          </a:p>
          <a:p>
            <a:endParaRPr lang="es-AR" sz="2400" dirty="0">
              <a:latin typeface="Bahnschrift SemiBold" pitchFamily="34" charset="0"/>
            </a:endParaRPr>
          </a:p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3156345" y="3352800"/>
            <a:ext cx="3092055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AR" sz="1200" dirty="0">
              <a:latin typeface="Bahnschrift SemiBold" pitchFamily="34" charset="0"/>
            </a:endParaRPr>
          </a:p>
          <a:p>
            <a:r>
              <a:rPr lang="es-AR" sz="2000" dirty="0">
                <a:latin typeface="Bahnschrift SemiBold" pitchFamily="34" charset="0"/>
              </a:rPr>
              <a:t>Reemplazar por la media o la moda computada sobre las observaciones más similares</a:t>
            </a:r>
          </a:p>
          <a:p>
            <a:endParaRPr lang="es-AR" sz="4400" dirty="0">
              <a:latin typeface="Bahnschrift SemiBold" pitchFamily="34" charset="0"/>
            </a:endParaRPr>
          </a:p>
          <a:p>
            <a:endParaRPr lang="es-AR" sz="2400" dirty="0">
              <a:latin typeface="Bahnschrift SemiBold" pitchFamily="34" charset="0"/>
            </a:endParaRPr>
          </a:p>
          <a:p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3200400" y="5005387"/>
            <a:ext cx="3092055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AR" sz="1200" dirty="0">
              <a:latin typeface="Bahnschrift SemiBold" pitchFamily="34" charset="0"/>
            </a:endParaRPr>
          </a:p>
          <a:p>
            <a:r>
              <a:rPr lang="es-AR" sz="2000" dirty="0">
                <a:latin typeface="Bahnschrift SemiBold" pitchFamily="34" charset="0"/>
              </a:rPr>
              <a:t>Usar machine </a:t>
            </a:r>
            <a:r>
              <a:rPr lang="es-AR" sz="2000" dirty="0" err="1">
                <a:latin typeface="Bahnschrift SemiBold" pitchFamily="34" charset="0"/>
              </a:rPr>
              <a:t>learning</a:t>
            </a:r>
            <a:r>
              <a:rPr lang="es-AR" sz="2000" dirty="0">
                <a:latin typeface="Bahnschrift SemiBold" pitchFamily="34" charset="0"/>
              </a:rPr>
              <a:t> para estimar la probabilidad de que el dato faltante tome distintos valores</a:t>
            </a:r>
            <a:endParaRPr lang="es-AR" sz="4400" dirty="0">
              <a:latin typeface="Bahnschrift SemiBold" pitchFamily="34" charset="0"/>
            </a:endParaRPr>
          </a:p>
          <a:p>
            <a:endParaRPr lang="es-AR" sz="2400" dirty="0">
              <a:latin typeface="Bahnschrift SemiBold" pitchFamily="34" charset="0"/>
            </a:endParaRPr>
          </a:p>
          <a:p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76200" y="76200"/>
            <a:ext cx="3003945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AR" sz="1200" dirty="0">
              <a:latin typeface="Bahnschrift SemiBold" pitchFamily="34" charset="0"/>
            </a:endParaRPr>
          </a:p>
          <a:p>
            <a:r>
              <a:rPr lang="es-AR" sz="2800" dirty="0">
                <a:latin typeface="Bahnschrift SemiBold" pitchFamily="34" charset="0"/>
              </a:rPr>
              <a:t>¿Qué hacer con los datos faltantes?</a:t>
            </a:r>
          </a:p>
          <a:p>
            <a:endParaRPr lang="es-AR" sz="4400" dirty="0">
              <a:latin typeface="Bahnschrift SemiBold" pitchFamily="34" charset="0"/>
            </a:endParaRPr>
          </a:p>
          <a:p>
            <a:endParaRPr lang="es-AR" sz="2400" dirty="0">
              <a:latin typeface="Bahnschrift SemiBold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20030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Taiwan Plane Crash: Passenger Jet Hits Bridge - YouTub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2625" y="1875591"/>
            <a:ext cx="5181599" cy="2914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76200" y="76200"/>
            <a:ext cx="8915400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AR" sz="1200" dirty="0">
              <a:latin typeface="Bahnschrift SemiBold" pitchFamily="34" charset="0"/>
            </a:endParaRPr>
          </a:p>
          <a:p>
            <a:r>
              <a:rPr lang="es-AR" sz="2800" dirty="0">
                <a:latin typeface="Bahnschrift SemiBold" pitchFamily="34" charset="0"/>
              </a:rPr>
              <a:t>A veces, los datos faltantes nos dan información en sí mismos </a:t>
            </a:r>
            <a:endParaRPr lang="es-AR" sz="4400" dirty="0">
              <a:latin typeface="Bahnschrift SemiBold" pitchFamily="34" charset="0"/>
            </a:endParaRPr>
          </a:p>
          <a:p>
            <a:endParaRPr lang="es-AR" sz="2400" dirty="0">
              <a:latin typeface="Bahnschrift SemiBold" pitchFamily="34" charset="0"/>
            </a:endParaRPr>
          </a:p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762126" y="4823579"/>
            <a:ext cx="5843588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i="1" dirty="0">
                <a:latin typeface="Bahnschrift SemiBold" pitchFamily="34" charset="0"/>
              </a:rPr>
              <a:t>¿por qué nadie en el vuelo RL 239 completó la encuesta de satisfacción al cliente?</a:t>
            </a:r>
            <a:endParaRPr lang="es-AR" sz="7200" i="1" dirty="0">
              <a:latin typeface="Bahnschrift SemiBold" pitchFamily="34" charset="0"/>
            </a:endParaRPr>
          </a:p>
          <a:p>
            <a:endParaRPr lang="es-AR" sz="2400" dirty="0">
              <a:latin typeface="Bahnschrift SemiBold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336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28600" y="76200"/>
                <a:ext cx="8915400" cy="70173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s-AR" sz="1200" dirty="0">
                  <a:latin typeface="Bahnschrift SemiBold" pitchFamily="34" charset="0"/>
                </a:endParaRPr>
              </a:p>
              <a:p>
                <a:r>
                  <a:rPr lang="es-AR" sz="3600" dirty="0">
                    <a:latin typeface="Bahnschrift SemiBold" pitchFamily="34" charset="0"/>
                  </a:rPr>
                  <a:t>Datos faltantes </a:t>
                </a:r>
                <a14:m>
                  <m:oMath xmlns:m="http://schemas.openxmlformats.org/officeDocument/2006/math">
                    <m:r>
                      <a:rPr lang="es-AR" sz="3600" i="1" smtClean="0">
                        <a:latin typeface="Cambria Math"/>
                        <a:ea typeface="Cambria Math"/>
                      </a:rPr>
                      <m:t>≠</m:t>
                    </m:r>
                  </m:oMath>
                </a14:m>
                <a:r>
                  <a:rPr lang="es-AR" sz="3600" dirty="0">
                    <a:latin typeface="Bahnschrift SemiBold" pitchFamily="34" charset="0"/>
                  </a:rPr>
                  <a:t> np.NaN</a:t>
                </a:r>
              </a:p>
              <a:p>
                <a:endParaRPr lang="es-AR" sz="3600" dirty="0">
                  <a:latin typeface="Bahnschrift SemiBold" pitchFamily="34" charset="0"/>
                </a:endParaRPr>
              </a:p>
              <a:p>
                <a:r>
                  <a:rPr lang="es-AR" sz="3600" dirty="0">
                    <a:latin typeface="Bahnschrift SemiBold" pitchFamily="34" charset="0"/>
                  </a:rPr>
                  <a:t>… , ‘</a:t>
                </a:r>
                <a:r>
                  <a:rPr lang="es-AR" sz="3600" dirty="0" err="1">
                    <a:latin typeface="Bahnschrift SemiBold" pitchFamily="34" charset="0"/>
                  </a:rPr>
                  <a:t>nan</a:t>
                </a:r>
                <a:r>
                  <a:rPr lang="es-AR" sz="3600" dirty="0">
                    <a:latin typeface="Bahnschrift SemiBold" pitchFamily="34" charset="0"/>
                  </a:rPr>
                  <a:t>’ , …</a:t>
                </a:r>
              </a:p>
              <a:p>
                <a:endParaRPr lang="es-AR" sz="3600" dirty="0">
                  <a:latin typeface="Bahnschrift SemiBold" pitchFamily="34" charset="0"/>
                </a:endParaRPr>
              </a:p>
              <a:p>
                <a:r>
                  <a:rPr lang="es-AR" sz="3600" dirty="0">
                    <a:latin typeface="Bahnschrift SemiBold" pitchFamily="34" charset="0"/>
                  </a:rPr>
                  <a:t>.. ,  , …</a:t>
                </a:r>
              </a:p>
              <a:p>
                <a:endParaRPr lang="es-AR" sz="3600" dirty="0">
                  <a:latin typeface="Bahnschrift SemiBold" pitchFamily="34" charset="0"/>
                </a:endParaRPr>
              </a:p>
              <a:p>
                <a:r>
                  <a:rPr lang="es-AR" sz="3600" dirty="0">
                    <a:latin typeface="Bahnschrift SemiBold" pitchFamily="34" charset="0"/>
                  </a:rPr>
                  <a:t>… , ‘falta’ , …</a:t>
                </a:r>
              </a:p>
              <a:p>
                <a:endParaRPr lang="es-AR" sz="3600" dirty="0">
                  <a:latin typeface="Bahnschrift SemiBold" pitchFamily="34" charset="0"/>
                </a:endParaRPr>
              </a:p>
              <a:p>
                <a:r>
                  <a:rPr lang="es-AR" sz="3600" dirty="0">
                    <a:latin typeface="Bahnschrift SemiBold" pitchFamily="34" charset="0"/>
                  </a:rPr>
                  <a:t>… , -999  , …</a:t>
                </a:r>
              </a:p>
              <a:p>
                <a:endParaRPr lang="es-AR" sz="3600" dirty="0">
                  <a:latin typeface="Bahnschrift SemiBold" pitchFamily="34" charset="0"/>
                </a:endParaRPr>
              </a:p>
              <a:p>
                <a:r>
                  <a:rPr lang="es-AR" sz="3600" dirty="0">
                    <a:latin typeface="Bahnschrift SemiBold" pitchFamily="34" charset="0"/>
                  </a:rPr>
                  <a:t>… , ‘</a:t>
                </a:r>
                <a:r>
                  <a:rPr lang="es-AR" sz="3600" dirty="0" err="1">
                    <a:latin typeface="Bahnschrift SemiBold" pitchFamily="34" charset="0"/>
                  </a:rPr>
                  <a:t>cosme</a:t>
                </a:r>
                <a:r>
                  <a:rPr lang="es-AR" sz="3600" dirty="0">
                    <a:latin typeface="Bahnschrift SemiBold" pitchFamily="34" charset="0"/>
                  </a:rPr>
                  <a:t> fulanito’, …</a:t>
                </a:r>
                <a:endParaRPr lang="es-AR" sz="3200" dirty="0">
                  <a:latin typeface="Bahnschrift SemiBold" pitchFamily="34" charset="0"/>
                </a:endParaRPr>
              </a:p>
              <a:p>
                <a:endParaRPr lang="es-AR" sz="2400" dirty="0">
                  <a:latin typeface="Bahnschrift SemiBold" pitchFamily="34" charset="0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76200"/>
                <a:ext cx="8915400" cy="7017306"/>
              </a:xfrm>
              <a:prstGeom prst="rect">
                <a:avLst/>
              </a:prstGeom>
              <a:blipFill rotWithShape="1">
                <a:blip r:embed="rId2"/>
                <a:stretch>
                  <a:fillRect l="-2120" b="-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09679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28600" y="78938"/>
            <a:ext cx="891540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AR" sz="1200" dirty="0">
              <a:latin typeface="Bahnschrift SemiBold" pitchFamily="34" charset="0"/>
            </a:endParaRPr>
          </a:p>
          <a:p>
            <a:r>
              <a:rPr lang="es-AR" sz="4000" dirty="0" err="1">
                <a:latin typeface="Bahnschrift SemiBold" pitchFamily="34" charset="0"/>
              </a:rPr>
              <a:t>Rescaleo</a:t>
            </a:r>
            <a:r>
              <a:rPr lang="es-AR" sz="4000" dirty="0">
                <a:latin typeface="Bahnschrift SemiBold" pitchFamily="34" charset="0"/>
              </a:rPr>
              <a:t> con a y b constantes</a:t>
            </a:r>
            <a:endParaRPr lang="es-AR" sz="2400" dirty="0">
              <a:latin typeface="Bahnschrift SemiBold" pitchFamily="34" charset="0"/>
            </a:endParaRPr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76495" y="1752600"/>
                <a:ext cx="3023905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en-US" sz="36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3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s-AR" sz="3600" b="0" i="0" smtClean="0">
                                  <a:latin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s-AR" sz="3600" b="0" i="0" smtClean="0">
                                  <a:latin typeface="Cambria Math"/>
                                </a:rPr>
                                <m:t>i</m:t>
                              </m:r>
                            </m:sub>
                          </m:sSub>
                        </m:e>
                      </m:acc>
                      <m:r>
                        <a:rPr lang="es-AR" sz="3600" b="0" i="0" smtClean="0"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s-AR" sz="3600" b="0" i="0" smtClean="0">
                          <a:latin typeface="Cambria Math"/>
                        </a:rPr>
                        <m:t>a</m:t>
                      </m:r>
                      <m:r>
                        <a:rPr lang="es-AR" sz="3600" b="0" i="0" smtClean="0">
                          <a:latin typeface="Cambria Math"/>
                        </a:rPr>
                        <m:t>(</m:t>
                      </m:r>
                      <m:sSub>
                        <m:sSubPr>
                          <m:ctrlPr>
                            <a:rPr lang="es-AR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s-AR" sz="3600" b="0" i="0" smtClean="0">
                              <a:latin typeface="Cambria Math"/>
                            </a:rPr>
                            <m:t>x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s-AR" sz="3600" b="0" i="0" smtClean="0">
                              <a:latin typeface="Cambria Math"/>
                            </a:rPr>
                            <m:t>i</m:t>
                          </m:r>
                        </m:sub>
                      </m:sSub>
                      <m:r>
                        <a:rPr lang="en-US" sz="3600" b="0" i="0" smtClean="0">
                          <a:latin typeface="Cambria Math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3600" b="0" i="0" smtClean="0">
                          <a:latin typeface="Cambria Math"/>
                        </a:rPr>
                        <m:t>b</m:t>
                      </m:r>
                      <m:r>
                        <a:rPr lang="en-US" sz="3600" b="0" i="0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95" y="1752600"/>
                <a:ext cx="3023905" cy="646331"/>
              </a:xfrm>
              <a:prstGeom prst="rect">
                <a:avLst/>
              </a:prstGeom>
              <a:blipFill rotWithShape="1">
                <a:blip r:embed="rId2"/>
                <a:stretch>
                  <a:fillRect t="-14151" r="-7258" b="-339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228600" y="3048000"/>
            <a:ext cx="8915400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AR" sz="1200" dirty="0">
              <a:latin typeface="Bahnschrift SemiBold" pitchFamily="34" charset="0"/>
            </a:endParaRPr>
          </a:p>
          <a:p>
            <a:r>
              <a:rPr lang="es-AR" sz="2000" dirty="0">
                <a:latin typeface="Bahnschrift SemiBold" pitchFamily="34" charset="0"/>
              </a:rPr>
              <a:t>Por ejemplo, pasar de un sistema de unidades a otro, o comparar los datos contra un valor de referencia </a:t>
            </a:r>
          </a:p>
          <a:p>
            <a:endParaRPr lang="es-AR" sz="2000" dirty="0">
              <a:latin typeface="Bahnschrift SemiBold" pitchFamily="34" charset="0"/>
            </a:endParaRPr>
          </a:p>
          <a:p>
            <a:r>
              <a:rPr lang="es-AR" sz="2000" dirty="0">
                <a:latin typeface="Bahnschrift SemiBold" pitchFamily="34" charset="0"/>
              </a:rPr>
              <a:t>(</a:t>
            </a:r>
            <a:r>
              <a:rPr lang="es-AR" sz="2000" dirty="0" err="1">
                <a:latin typeface="Bahnschrift SemiBold" pitchFamily="34" charset="0"/>
              </a:rPr>
              <a:t>e.g</a:t>
            </a:r>
            <a:r>
              <a:rPr lang="es-AR" sz="2000" dirty="0">
                <a:latin typeface="Bahnschrift SemiBold" pitchFamily="34" charset="0"/>
              </a:rPr>
              <a:t>. b = -promedio histórico)</a:t>
            </a:r>
            <a:endParaRPr lang="es-AR" sz="3600" dirty="0">
              <a:latin typeface="Bahnschrift SemiBold" pitchFamily="34" charset="0"/>
            </a:endParaRPr>
          </a:p>
          <a:p>
            <a:endParaRPr lang="es-AR" sz="2400" dirty="0">
              <a:latin typeface="Bahnschrift SemiBold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5984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28600" y="78938"/>
            <a:ext cx="891540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AR" sz="1200" dirty="0">
              <a:latin typeface="Bahnschrift SemiBold" pitchFamily="34" charset="0"/>
            </a:endParaRPr>
          </a:p>
          <a:p>
            <a:r>
              <a:rPr lang="es-AR" sz="4000" dirty="0">
                <a:latin typeface="Bahnschrift SemiBold" pitchFamily="34" charset="0"/>
              </a:rPr>
              <a:t>Normalización</a:t>
            </a:r>
            <a:endParaRPr lang="es-AR" sz="2400" dirty="0">
              <a:latin typeface="Bahnschrift SemiBold" pitchFamily="34" charset="0"/>
            </a:endParaRPr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76495" y="1447800"/>
                <a:ext cx="5084469" cy="12457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en-US" sz="36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3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s-AR" sz="3600" b="0" i="0" smtClean="0">
                                  <a:latin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s-AR" sz="3600" b="0" i="0" smtClean="0">
                                  <a:latin typeface="Cambria Math"/>
                                </a:rPr>
                                <m:t>i</m:t>
                              </m:r>
                            </m:sub>
                          </m:sSub>
                        </m:e>
                      </m:acc>
                      <m:r>
                        <a:rPr lang="es-AR" sz="3600" b="0" i="0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s-AR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AR" sz="3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s-AR" sz="3600" i="0">
                                  <a:latin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s-AR" sz="3600" i="0">
                                  <a:latin typeface="Cambria Math"/>
                                </a:rPr>
                                <m:t>i</m:t>
                              </m:r>
                            </m:sub>
                          </m:sSub>
                          <m:r>
                            <a:rPr lang="es-AR" sz="3600" i="0">
                              <a:latin typeface="Cambria Math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s-AR" sz="3600" b="0" i="0" smtClean="0">
                              <a:latin typeface="Cambria Math"/>
                            </a:rPr>
                            <m:t>min</m:t>
                          </m:r>
                          <m:r>
                            <m:rPr>
                              <m:nor/>
                            </m:rPr>
                            <a:rPr lang="es-AR" sz="3600" b="0" i="0" smtClean="0">
                              <a:latin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es-AR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s-AR" sz="3600" b="0" i="0" smtClean="0">
                                  <a:latin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s-AR" sz="3600" b="0" i="0" smtClean="0">
                                  <a:latin typeface="Cambria Math"/>
                                </a:rPr>
                                <m:t>i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es-AR" sz="3600" b="0" i="0" smtClean="0">
                              <a:latin typeface="Cambria Math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n-US" sz="3600" i="0" dirty="0"/>
                            <m:t> </m:t>
                          </m:r>
                        </m:num>
                        <m:den>
                          <m:func>
                            <m:funcPr>
                              <m:ctrlPr>
                                <a:rPr lang="es-AR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s-AR" sz="3600" b="0" i="0" smtClean="0">
                                  <a:latin typeface="Cambria Math"/>
                                </a:rPr>
                                <m:t>max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s-AR" sz="3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s-AR" sz="3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s-AR" sz="3600" b="0" i="0" smtClean="0">
                                          <a:latin typeface="Cambria Math"/>
                                        </a:rPr>
                                        <m:t>x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s-AR" sz="3600" b="0" i="0" smtClean="0">
                                          <a:latin typeface="Cambria Math"/>
                                        </a:rPr>
                                        <m:t>i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  <m:r>
                            <a:rPr lang="es-AR" sz="3600" b="0" i="0" smtClean="0">
                              <a:latin typeface="Cambria Math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s-AR" sz="3600" b="0" i="0" smtClean="0">
                              <a:latin typeface="Cambria Math"/>
                            </a:rPr>
                            <m:t>min</m:t>
                          </m:r>
                          <m:r>
                            <a:rPr lang="es-AR" sz="3600" b="0" i="0" smtClean="0">
                              <a:latin typeface="Cambria Math"/>
                            </a:rPr>
                            <m:t>⁡(</m:t>
                          </m:r>
                          <m:sSub>
                            <m:sSubPr>
                              <m:ctrlPr>
                                <a:rPr lang="es-AR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s-AR" sz="3600" b="0" i="0" smtClean="0">
                                  <a:latin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s-AR" sz="3600" b="0" i="0" smtClean="0">
                                  <a:latin typeface="Cambria Math"/>
                                </a:rPr>
                                <m:t>i</m:t>
                              </m:r>
                            </m:sub>
                          </m:sSub>
                          <m:r>
                            <a:rPr lang="es-AR" sz="3600" b="0" i="0" smtClean="0">
                              <a:latin typeface="Cambria Math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95" y="1447800"/>
                <a:ext cx="5084469" cy="1245790"/>
              </a:xfrm>
              <a:prstGeom prst="rect">
                <a:avLst/>
              </a:prstGeom>
              <a:blipFill rotWithShape="1">
                <a:blip r:embed="rId2"/>
                <a:stretch>
                  <a:fillRect r="-22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228600" y="3048000"/>
            <a:ext cx="8915400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AR" sz="1200" dirty="0">
              <a:latin typeface="Bahnschrift SemiBold" pitchFamily="34" charset="0"/>
            </a:endParaRPr>
          </a:p>
          <a:p>
            <a:r>
              <a:rPr lang="es-AR" sz="2400" dirty="0">
                <a:latin typeface="Bahnschrift SemiBold" pitchFamily="34" charset="0"/>
              </a:rPr>
              <a:t>Normalización min-</a:t>
            </a:r>
            <a:r>
              <a:rPr lang="es-AR" sz="2400" dirty="0" err="1">
                <a:latin typeface="Bahnschrift SemiBold" pitchFamily="34" charset="0"/>
              </a:rPr>
              <a:t>max</a:t>
            </a:r>
            <a:r>
              <a:rPr lang="es-AR" sz="2400" dirty="0">
                <a:latin typeface="Bahnschrift SemiBold" pitchFamily="34" charset="0"/>
              </a:rPr>
              <a:t> (entre 0 y 1)</a:t>
            </a:r>
          </a:p>
          <a:p>
            <a:endParaRPr lang="es-AR" sz="2400" dirty="0">
              <a:latin typeface="Bahnschrift SemiBold" pitchFamily="34" charset="0"/>
            </a:endParaRPr>
          </a:p>
          <a:p>
            <a:r>
              <a:rPr lang="es-AR" sz="2400" dirty="0">
                <a:latin typeface="Bahnschrift SemiBold" pitchFamily="34" charset="0"/>
              </a:rPr>
              <a:t>Es útil aunque los datos no sigan una distribución normal, pero es muy sensible a </a:t>
            </a:r>
            <a:r>
              <a:rPr lang="es-AR" sz="2400" dirty="0" err="1">
                <a:latin typeface="Bahnschrift SemiBold" pitchFamily="34" charset="0"/>
              </a:rPr>
              <a:t>outliers</a:t>
            </a:r>
            <a:r>
              <a:rPr lang="es-AR" sz="2400" dirty="0">
                <a:latin typeface="Bahnschrift SemiBold" pitchFamily="34" charset="0"/>
              </a:rPr>
              <a:t> (porque aparecen </a:t>
            </a:r>
            <a:r>
              <a:rPr lang="es-AR" sz="2400" dirty="0" err="1">
                <a:latin typeface="Bahnschrift SemiBold" pitchFamily="34" charset="0"/>
              </a:rPr>
              <a:t>max</a:t>
            </a:r>
            <a:r>
              <a:rPr lang="es-AR" sz="2400" dirty="0">
                <a:latin typeface="Bahnschrift SemiBold" pitchFamily="34" charset="0"/>
              </a:rPr>
              <a:t> y min) </a:t>
            </a:r>
          </a:p>
          <a:p>
            <a:endParaRPr lang="es-AR" sz="2400" dirty="0">
              <a:latin typeface="Bahnschrift SemiBold" pitchFamily="34" charset="0"/>
            </a:endParaRPr>
          </a:p>
          <a:p>
            <a:r>
              <a:rPr lang="es-AR" sz="2400" dirty="0">
                <a:latin typeface="Bahnschrift SemiBold" pitchFamily="34" charset="0"/>
              </a:rPr>
              <a:t>2, 1, 3, 5, 3, 6, </a:t>
            </a:r>
            <a:r>
              <a:rPr lang="es-AR" sz="2400" b="1" dirty="0">
                <a:solidFill>
                  <a:srgbClr val="FF0000"/>
                </a:solidFill>
                <a:latin typeface="Bahnschrift SemiBold" pitchFamily="34" charset="0"/>
              </a:rPr>
              <a:t>10932</a:t>
            </a:r>
            <a:r>
              <a:rPr lang="es-AR" sz="2400" dirty="0">
                <a:latin typeface="Bahnschrift SemiBold" pitchFamily="34" charset="0"/>
              </a:rPr>
              <a:t>, 10 </a:t>
            </a:r>
            <a:r>
              <a:rPr lang="es-AR" sz="2400" dirty="0">
                <a:latin typeface="Bahnschrift SemiBold" pitchFamily="34" charset="0"/>
                <a:sym typeface="Wingdings" pitchFamily="2" charset="2"/>
              </a:rPr>
              <a:t>  </a:t>
            </a:r>
          </a:p>
          <a:p>
            <a:endParaRPr lang="es-AR" sz="2400" dirty="0">
              <a:latin typeface="Bahnschrift SemiBold" pitchFamily="34" charset="0"/>
              <a:sym typeface="Wingdings" pitchFamily="2" charset="2"/>
            </a:endParaRPr>
          </a:p>
          <a:p>
            <a:r>
              <a:rPr lang="es-AR" sz="2400" dirty="0">
                <a:latin typeface="Bahnschrift SemiBold" pitchFamily="34" charset="0"/>
                <a:sym typeface="Wingdings" pitchFamily="2" charset="2"/>
              </a:rPr>
              <a:t>0.0001, 0, 0.0002, 0.0004, 0.0002, 0.0005, </a:t>
            </a:r>
            <a:r>
              <a:rPr lang="es-AR" sz="2400" dirty="0">
                <a:solidFill>
                  <a:srgbClr val="FF0000"/>
                </a:solidFill>
                <a:latin typeface="Bahnschrift SemiBold" pitchFamily="34" charset="0"/>
                <a:sym typeface="Wingdings" pitchFamily="2" charset="2"/>
              </a:rPr>
              <a:t>1</a:t>
            </a:r>
            <a:r>
              <a:rPr lang="es-AR" sz="2400" dirty="0">
                <a:latin typeface="Bahnschrift SemiBold" pitchFamily="34" charset="0"/>
                <a:sym typeface="Wingdings" pitchFamily="2" charset="2"/>
              </a:rPr>
              <a:t>, 0.0008</a:t>
            </a:r>
            <a:endParaRPr lang="es-AR" sz="2400" dirty="0">
              <a:latin typeface="Bahnschrift SemiBold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1543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28600" y="78938"/>
            <a:ext cx="891540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AR" sz="1200" dirty="0">
              <a:latin typeface="Bahnschrift SemiBold" pitchFamily="34" charset="0"/>
            </a:endParaRPr>
          </a:p>
          <a:p>
            <a:r>
              <a:rPr lang="es-AR" sz="4000" dirty="0">
                <a:latin typeface="Bahnschrift SemiBold" pitchFamily="34" charset="0"/>
              </a:rPr>
              <a:t>Estandarización</a:t>
            </a:r>
            <a:endParaRPr lang="es-AR" sz="2400" dirty="0">
              <a:latin typeface="Bahnschrift SemiBold" pitchFamily="34" charset="0"/>
            </a:endParaRPr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76495" y="1752600"/>
                <a:ext cx="2881815" cy="11609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en-US" sz="36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3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s-AR" sz="3600" b="0" i="0" smtClean="0">
                                  <a:latin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s-AR" sz="3600" b="0" i="0" smtClean="0">
                                  <a:latin typeface="Cambria Math"/>
                                </a:rPr>
                                <m:t>i</m:t>
                              </m:r>
                            </m:sub>
                          </m:sSub>
                        </m:e>
                      </m:acc>
                      <m:r>
                        <a:rPr lang="es-AR" sz="3600" b="0" i="0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s-AR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AR" sz="3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s-AR" sz="3600">
                                  <a:latin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s-AR" sz="3600">
                                  <a:latin typeface="Cambria Math"/>
                                </a:rPr>
                                <m:t>i</m:t>
                              </m:r>
                            </m:sub>
                          </m:sSub>
                          <m:r>
                            <a:rPr lang="es-AR" sz="3600">
                              <a:latin typeface="Cambria Math"/>
                            </a:rPr>
                            <m:t>−</m:t>
                          </m:r>
                          <m:d>
                            <m:dPr>
                              <m:begChr m:val="⟨"/>
                              <m:endChr m:val="⟩"/>
                              <m:ctrlPr>
                                <a:rPr lang="es-AR" sz="3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s-AR" sz="3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AR" sz="3600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s-AR" sz="3600" i="1">
                                      <a:latin typeface="Cambria Math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s-AR" sz="3600" b="0" i="1" smtClean="0">
                              <a:latin typeface="Cambria Math"/>
                              <a:ea typeface="Cambria Math"/>
                            </a:rPr>
                            <m:t>𝜎</m:t>
                          </m:r>
                        </m:den>
                      </m:f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95" y="1752600"/>
                <a:ext cx="2881815" cy="1160959"/>
              </a:xfrm>
              <a:prstGeom prst="rect">
                <a:avLst/>
              </a:prstGeom>
              <a:blipFill rotWithShape="1">
                <a:blip r:embed="rId2"/>
                <a:stretch>
                  <a:fillRect r="-7611" b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228600" y="3048000"/>
            <a:ext cx="8915400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AR" sz="1200" dirty="0">
              <a:latin typeface="Bahnschrift SemiBold" pitchFamily="34" charset="0"/>
            </a:endParaRPr>
          </a:p>
          <a:p>
            <a:endParaRPr lang="es-AR" sz="2000" dirty="0">
              <a:latin typeface="Bahnschrift SemiBold" pitchFamily="34" charset="0"/>
            </a:endParaRPr>
          </a:p>
          <a:p>
            <a:endParaRPr lang="es-AR" sz="2000" dirty="0">
              <a:latin typeface="Bahnschrift SemiBold" pitchFamily="34" charset="0"/>
            </a:endParaRPr>
          </a:p>
          <a:p>
            <a:endParaRPr lang="es-AR" sz="2000" dirty="0">
              <a:latin typeface="Bahnschrift SemiBold" pitchFamily="34" charset="0"/>
            </a:endParaRPr>
          </a:p>
          <a:p>
            <a:r>
              <a:rPr lang="es-AR" sz="2000" dirty="0">
                <a:latin typeface="Bahnschrift SemiBold" pitchFamily="34" charset="0"/>
              </a:rPr>
              <a:t>Es resistente ante la presencia de </a:t>
            </a:r>
            <a:r>
              <a:rPr lang="es-AR" sz="2000" dirty="0" err="1">
                <a:latin typeface="Bahnschrift SemiBold" pitchFamily="34" charset="0"/>
              </a:rPr>
              <a:t>outliers</a:t>
            </a:r>
            <a:r>
              <a:rPr lang="es-AR" sz="2000" dirty="0">
                <a:latin typeface="Bahnschrift SemiBold" pitchFamily="34" charset="0"/>
              </a:rPr>
              <a:t>, pero no es demasiado interpretable para datos con distribuciones que no sean gaussianas.</a:t>
            </a:r>
          </a:p>
          <a:p>
            <a:endParaRPr lang="es-AR" sz="2000" dirty="0">
              <a:latin typeface="Bahnschrift SemiBold" pitchFamily="34" charset="0"/>
            </a:endParaRPr>
          </a:p>
          <a:p>
            <a:r>
              <a:rPr lang="es-AR" sz="2000" dirty="0">
                <a:latin typeface="Bahnschrift SemiBold" pitchFamily="34" charset="0"/>
              </a:rPr>
              <a:t>2, 1, 3, 5, 3, 6, </a:t>
            </a:r>
            <a:r>
              <a:rPr lang="es-AR" sz="2000" b="1" dirty="0">
                <a:solidFill>
                  <a:srgbClr val="FF0000"/>
                </a:solidFill>
                <a:latin typeface="Bahnschrift SemiBold" pitchFamily="34" charset="0"/>
              </a:rPr>
              <a:t>10932</a:t>
            </a:r>
            <a:r>
              <a:rPr lang="es-AR" sz="2000" dirty="0">
                <a:latin typeface="Bahnschrift SemiBold" pitchFamily="34" charset="0"/>
              </a:rPr>
              <a:t>, 10 </a:t>
            </a:r>
            <a:r>
              <a:rPr lang="es-AR" sz="2000" dirty="0">
                <a:latin typeface="Bahnschrift SemiBold" pitchFamily="34" charset="0"/>
                <a:sym typeface="Wingdings" pitchFamily="2" charset="2"/>
              </a:rPr>
              <a:t>  </a:t>
            </a:r>
          </a:p>
          <a:p>
            <a:endParaRPr lang="es-AR" sz="2000" dirty="0">
              <a:latin typeface="Bahnschrift SemiBold" pitchFamily="34" charset="0"/>
              <a:sym typeface="Wingdings" pitchFamily="2" charset="2"/>
            </a:endParaRPr>
          </a:p>
          <a:p>
            <a:r>
              <a:rPr lang="es-AR" sz="2000" dirty="0">
                <a:latin typeface="Bahnschrift SemiBold" pitchFamily="34" charset="0"/>
                <a:sym typeface="Wingdings" pitchFamily="2" charset="2"/>
              </a:rPr>
              <a:t>-0.3541 , -0.3544,  -0.3539,  -0.3534 , -0.3539,  -0.3531 ,</a:t>
            </a:r>
            <a:r>
              <a:rPr lang="es-AR" sz="2000" dirty="0">
                <a:solidFill>
                  <a:srgbClr val="FF0000"/>
                </a:solidFill>
                <a:latin typeface="Bahnschrift SemiBold" pitchFamily="34" charset="0"/>
                <a:sym typeface="Wingdings" pitchFamily="2" charset="2"/>
              </a:rPr>
              <a:t> 2.4749</a:t>
            </a:r>
            <a:r>
              <a:rPr lang="es-AR" sz="2000" dirty="0">
                <a:latin typeface="Bahnschrift SemiBold" pitchFamily="34" charset="0"/>
                <a:sym typeface="Wingdings" pitchFamily="2" charset="2"/>
              </a:rPr>
              <a:t>, -0.3521</a:t>
            </a:r>
            <a:endParaRPr lang="es-AR" sz="2000" dirty="0">
              <a:latin typeface="Bahnschrift SemiBold" pitchFamily="34" charset="0"/>
            </a:endParaRPr>
          </a:p>
          <a:p>
            <a:endParaRPr lang="es-AR" sz="2000" dirty="0">
              <a:latin typeface="Bahnschrift SemiBold" pitchFamily="34" charset="0"/>
            </a:endParaRPr>
          </a:p>
          <a:p>
            <a:endParaRPr lang="es-AR" sz="3600" dirty="0">
              <a:latin typeface="Bahnschrift SemiBold" pitchFamily="34" charset="0"/>
            </a:endParaRPr>
          </a:p>
          <a:p>
            <a:endParaRPr lang="es-AR" sz="2400" dirty="0">
              <a:latin typeface="Bahnschrift SemiBold" pitchFamily="34" charset="0"/>
            </a:endParaRPr>
          </a:p>
          <a:p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21228"/>
            <a:ext cx="4876800" cy="37203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70443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28600" y="78938"/>
            <a:ext cx="8915400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AR" sz="1200" dirty="0">
              <a:latin typeface="Bahnschrift SemiBold" pitchFamily="34" charset="0"/>
            </a:endParaRPr>
          </a:p>
          <a:p>
            <a:r>
              <a:rPr lang="es-AR" sz="4000" dirty="0">
                <a:latin typeface="Bahnschrift SemiBold" pitchFamily="34" charset="0"/>
              </a:rPr>
              <a:t>Por qué puede ser vital para machine </a:t>
            </a:r>
            <a:r>
              <a:rPr lang="es-AR" sz="4000" dirty="0" err="1">
                <a:latin typeface="Bahnschrift SemiBold" pitchFamily="34" charset="0"/>
              </a:rPr>
              <a:t>learning</a:t>
            </a:r>
            <a:r>
              <a:rPr lang="es-AR" sz="4000" dirty="0">
                <a:latin typeface="Bahnschrift SemiBold" pitchFamily="34" charset="0"/>
              </a:rPr>
              <a:t> (intuición)</a:t>
            </a:r>
            <a:endParaRPr lang="es-AR" sz="2400" dirty="0">
              <a:latin typeface="Bahnschrift SemiBold" pitchFamily="34" charset="0"/>
            </a:endParaRPr>
          </a:p>
          <a:p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2119313" y="3729038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2652713" y="3348038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424113" y="4719638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2786063" y="3957638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3719513" y="4833938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3005138" y="5557838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3119438" y="4938713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3005138" y="2624138"/>
            <a:ext cx="228600" cy="2286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3719513" y="3009900"/>
            <a:ext cx="228600" cy="2286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3919538" y="2624138"/>
            <a:ext cx="228600" cy="2286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4300538" y="3943350"/>
            <a:ext cx="228600" cy="2286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4452938" y="3352800"/>
            <a:ext cx="228600" cy="2286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4719638" y="2852738"/>
            <a:ext cx="228600" cy="2286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5100638" y="3843338"/>
            <a:ext cx="228600" cy="2286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5181600" y="4495800"/>
            <a:ext cx="228600" cy="2286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/>
          <p:cNvCxnSpPr/>
          <p:nvPr/>
        </p:nvCxnSpPr>
        <p:spPr>
          <a:xfrm>
            <a:off x="2424113" y="2357438"/>
            <a:ext cx="2790825" cy="34290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V="1">
            <a:off x="1476376" y="5143500"/>
            <a:ext cx="0" cy="9525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1476376" y="6091237"/>
            <a:ext cx="1023937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095376" y="5557838"/>
            <a:ext cx="60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b="1" dirty="0">
                <a:latin typeface="Bahnschrift" pitchFamily="34" charset="0"/>
              </a:rPr>
              <a:t>x</a:t>
            </a:r>
            <a:endParaRPr lang="en-US" b="1" dirty="0">
              <a:latin typeface="Bahnschrift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666875" y="6086535"/>
            <a:ext cx="60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b="1" dirty="0">
                <a:latin typeface="Bahnschrift" pitchFamily="34" charset="0"/>
              </a:rPr>
              <a:t>y</a:t>
            </a:r>
            <a:endParaRPr lang="en-US" b="1" dirty="0">
              <a:latin typeface="Bahnschrift" pitchFamily="34" charset="0"/>
            </a:endParaRPr>
          </a:p>
        </p:txBody>
      </p:sp>
      <p:sp>
        <p:nvSpPr>
          <p:cNvPr id="28" name="Oval 27"/>
          <p:cNvSpPr/>
          <p:nvPr/>
        </p:nvSpPr>
        <p:spPr>
          <a:xfrm>
            <a:off x="6553200" y="1514475"/>
            <a:ext cx="228600" cy="2286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/>
          <p:cNvSpPr/>
          <p:nvPr/>
        </p:nvSpPr>
        <p:spPr>
          <a:xfrm>
            <a:off x="6553200" y="2006917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ight Brace 29"/>
          <p:cNvSpPr/>
          <p:nvPr/>
        </p:nvSpPr>
        <p:spPr>
          <a:xfrm>
            <a:off x="6934200" y="1371600"/>
            <a:ext cx="228600" cy="990600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6553200" y="3083242"/>
            <a:ext cx="228600" cy="228600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/>
          <p:cNvSpPr/>
          <p:nvPr/>
        </p:nvSpPr>
        <p:spPr>
          <a:xfrm>
            <a:off x="6553200" y="3575684"/>
            <a:ext cx="228600" cy="228600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ight Brace 32"/>
          <p:cNvSpPr/>
          <p:nvPr/>
        </p:nvSpPr>
        <p:spPr>
          <a:xfrm>
            <a:off x="6934200" y="2940367"/>
            <a:ext cx="228600" cy="990600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7239000" y="1524000"/>
            <a:ext cx="169148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Bahnschrift SemiBold" pitchFamily="34" charset="0"/>
              </a:rPr>
              <a:t>Datos de </a:t>
            </a:r>
          </a:p>
          <a:p>
            <a:r>
              <a:rPr lang="es-AR" dirty="0">
                <a:latin typeface="Bahnschrift SemiBold" pitchFamily="34" charset="0"/>
              </a:rPr>
              <a:t>entrenamiento</a:t>
            </a:r>
            <a:endParaRPr lang="en-US" dirty="0"/>
          </a:p>
        </p:txBody>
      </p:sp>
      <p:sp>
        <p:nvSpPr>
          <p:cNvPr id="35" name="Rectangle 34"/>
          <p:cNvSpPr/>
          <p:nvPr/>
        </p:nvSpPr>
        <p:spPr>
          <a:xfrm>
            <a:off x="7239000" y="3200400"/>
            <a:ext cx="15840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Bahnschrift SemiBold" pitchFamily="34" charset="0"/>
              </a:rPr>
              <a:t>Datos nuevos</a:t>
            </a:r>
            <a:endParaRPr lang="en-US" dirty="0"/>
          </a:p>
        </p:txBody>
      </p:sp>
      <p:sp>
        <p:nvSpPr>
          <p:cNvPr id="36" name="Oval 35"/>
          <p:cNvSpPr/>
          <p:nvPr/>
        </p:nvSpPr>
        <p:spPr>
          <a:xfrm>
            <a:off x="2028825" y="3009900"/>
            <a:ext cx="228600" cy="228600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/>
          <p:cNvSpPr/>
          <p:nvPr/>
        </p:nvSpPr>
        <p:spPr>
          <a:xfrm>
            <a:off x="2409825" y="2619375"/>
            <a:ext cx="228600" cy="228600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2405063" y="3385066"/>
            <a:ext cx="228600" cy="228600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/>
          <p:cNvSpPr/>
          <p:nvPr/>
        </p:nvSpPr>
        <p:spPr>
          <a:xfrm>
            <a:off x="3000376" y="3451741"/>
            <a:ext cx="228600" cy="228600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/>
          <p:cNvSpPr/>
          <p:nvPr/>
        </p:nvSpPr>
        <p:spPr>
          <a:xfrm>
            <a:off x="3348038" y="4376737"/>
            <a:ext cx="228600" cy="228600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/>
          <p:cNvSpPr/>
          <p:nvPr/>
        </p:nvSpPr>
        <p:spPr>
          <a:xfrm>
            <a:off x="3000376" y="4491036"/>
            <a:ext cx="228600" cy="228600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/>
          <p:cNvSpPr/>
          <p:nvPr/>
        </p:nvSpPr>
        <p:spPr>
          <a:xfrm>
            <a:off x="3948113" y="5376861"/>
            <a:ext cx="228600" cy="228600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/>
          <p:cNvSpPr/>
          <p:nvPr/>
        </p:nvSpPr>
        <p:spPr>
          <a:xfrm>
            <a:off x="3805238" y="4491036"/>
            <a:ext cx="228600" cy="228600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/>
          <p:cNvSpPr/>
          <p:nvPr/>
        </p:nvSpPr>
        <p:spPr>
          <a:xfrm>
            <a:off x="1095376" y="3054667"/>
            <a:ext cx="228600" cy="228600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/>
          <p:cNvSpPr/>
          <p:nvPr/>
        </p:nvSpPr>
        <p:spPr>
          <a:xfrm>
            <a:off x="1600200" y="3167895"/>
            <a:ext cx="228600" cy="228600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/>
          <p:cNvSpPr/>
          <p:nvPr/>
        </p:nvSpPr>
        <p:spPr>
          <a:xfrm>
            <a:off x="1400176" y="3729038"/>
            <a:ext cx="228600" cy="228600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/>
          <p:cNvSpPr/>
          <p:nvPr/>
        </p:nvSpPr>
        <p:spPr>
          <a:xfrm>
            <a:off x="1514475" y="4267200"/>
            <a:ext cx="228600" cy="228600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/>
          <p:cNvSpPr/>
          <p:nvPr/>
        </p:nvSpPr>
        <p:spPr>
          <a:xfrm>
            <a:off x="2195513" y="4419600"/>
            <a:ext cx="228600" cy="228600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2052638" y="5262561"/>
            <a:ext cx="228600" cy="228600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/>
          <p:cNvSpPr/>
          <p:nvPr/>
        </p:nvSpPr>
        <p:spPr>
          <a:xfrm>
            <a:off x="2876551" y="5033961"/>
            <a:ext cx="228600" cy="228600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/>
          <p:cNvSpPr/>
          <p:nvPr/>
        </p:nvSpPr>
        <p:spPr>
          <a:xfrm>
            <a:off x="2886076" y="5729348"/>
            <a:ext cx="228600" cy="228600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/>
          <p:cNvSpPr/>
          <p:nvPr/>
        </p:nvSpPr>
        <p:spPr>
          <a:xfrm>
            <a:off x="6019800" y="5033961"/>
            <a:ext cx="292311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dirty="0">
                <a:latin typeface="Bahnschrift SemiBold" pitchFamily="34" charset="0"/>
              </a:rPr>
              <a:t>La coordenada y de los datos nuevos viene de una distribución diferente a la usada para entrenar el modelo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675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2" grpId="0" animBg="1"/>
      <p:bldP spid="33" grpId="0" animBg="1"/>
      <p:bldP spid="35" grpId="0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28600" y="78938"/>
            <a:ext cx="8915400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AR" sz="1200" dirty="0">
              <a:latin typeface="Bahnschrift SemiBold" pitchFamily="34" charset="0"/>
            </a:endParaRPr>
          </a:p>
          <a:p>
            <a:r>
              <a:rPr lang="es-AR" sz="4000" dirty="0">
                <a:latin typeface="Bahnschrift SemiBold" pitchFamily="34" charset="0"/>
              </a:rPr>
              <a:t>Por qué puede ser vital para machine </a:t>
            </a:r>
            <a:r>
              <a:rPr lang="es-AR" sz="4000" dirty="0" err="1">
                <a:latin typeface="Bahnschrift SemiBold" pitchFamily="34" charset="0"/>
              </a:rPr>
              <a:t>learning</a:t>
            </a:r>
            <a:r>
              <a:rPr lang="es-AR" sz="4000" dirty="0">
                <a:latin typeface="Bahnschrift SemiBold" pitchFamily="34" charset="0"/>
              </a:rPr>
              <a:t> (intuición)</a:t>
            </a:r>
            <a:endParaRPr lang="es-AR" sz="2400" dirty="0">
              <a:latin typeface="Bahnschrift SemiBold" pitchFamily="34" charset="0"/>
            </a:endParaRPr>
          </a:p>
          <a:p>
            <a:endParaRPr lang="en-US" dirty="0"/>
          </a:p>
        </p:txBody>
      </p:sp>
      <p:cxnSp>
        <p:nvCxnSpPr>
          <p:cNvPr id="23" name="Straight Arrow Connector 22"/>
          <p:cNvCxnSpPr/>
          <p:nvPr/>
        </p:nvCxnSpPr>
        <p:spPr>
          <a:xfrm flipV="1">
            <a:off x="1476376" y="5143500"/>
            <a:ext cx="0" cy="9525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1476376" y="6091237"/>
            <a:ext cx="1023937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095376" y="5557838"/>
            <a:ext cx="60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b="1" dirty="0">
                <a:latin typeface="Bahnschrift" pitchFamily="34" charset="0"/>
              </a:rPr>
              <a:t>x</a:t>
            </a:r>
            <a:endParaRPr lang="en-US" b="1" dirty="0">
              <a:latin typeface="Bahnschrift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666875" y="6086535"/>
            <a:ext cx="60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b="1" dirty="0">
                <a:latin typeface="Bahnschrift" pitchFamily="34" charset="0"/>
              </a:rPr>
              <a:t>y</a:t>
            </a:r>
            <a:endParaRPr lang="en-US" b="1" dirty="0">
              <a:latin typeface="Bahnschrift" pitchFamily="34" charset="0"/>
            </a:endParaRPr>
          </a:p>
        </p:txBody>
      </p:sp>
      <p:sp>
        <p:nvSpPr>
          <p:cNvPr id="28" name="Oval 27"/>
          <p:cNvSpPr/>
          <p:nvPr/>
        </p:nvSpPr>
        <p:spPr>
          <a:xfrm>
            <a:off x="6553200" y="1514475"/>
            <a:ext cx="228600" cy="2286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/>
          <p:cNvSpPr/>
          <p:nvPr/>
        </p:nvSpPr>
        <p:spPr>
          <a:xfrm>
            <a:off x="6553200" y="2006917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ight Brace 29"/>
          <p:cNvSpPr/>
          <p:nvPr/>
        </p:nvSpPr>
        <p:spPr>
          <a:xfrm>
            <a:off x="6934200" y="1371600"/>
            <a:ext cx="228600" cy="990600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7239000" y="1524000"/>
            <a:ext cx="169148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Bahnschrift SemiBold" pitchFamily="34" charset="0"/>
              </a:rPr>
              <a:t>Datos de </a:t>
            </a:r>
          </a:p>
          <a:p>
            <a:r>
              <a:rPr lang="es-AR" dirty="0">
                <a:latin typeface="Bahnschrift SemiBold" pitchFamily="34" charset="0"/>
              </a:rPr>
              <a:t>entrenamiento</a:t>
            </a:r>
            <a:endParaRPr lang="en-US" dirty="0"/>
          </a:p>
        </p:txBody>
      </p:sp>
      <p:sp>
        <p:nvSpPr>
          <p:cNvPr id="53" name="Rectangle 52"/>
          <p:cNvSpPr/>
          <p:nvPr/>
        </p:nvSpPr>
        <p:spPr>
          <a:xfrm>
            <a:off x="6019800" y="5033961"/>
            <a:ext cx="292311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dirty="0">
                <a:latin typeface="Bahnschrift SemiBold" pitchFamily="34" charset="0"/>
              </a:rPr>
              <a:t>Si la coordenada y tiene un rango de valores muchísimo más amplio que x, domina el entrenamiento y siempre tengo el mismo modelo</a:t>
            </a:r>
            <a:endParaRPr lang="en-US" dirty="0"/>
          </a:p>
        </p:txBody>
      </p:sp>
      <p:sp>
        <p:nvSpPr>
          <p:cNvPr id="54" name="Oval 53"/>
          <p:cNvSpPr/>
          <p:nvPr/>
        </p:nvSpPr>
        <p:spPr>
          <a:xfrm>
            <a:off x="1476376" y="4038600"/>
            <a:ext cx="228600" cy="2286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/>
          <p:cNvSpPr/>
          <p:nvPr/>
        </p:nvSpPr>
        <p:spPr>
          <a:xfrm>
            <a:off x="2819400" y="4138612"/>
            <a:ext cx="228600" cy="2286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/>
          <p:cNvSpPr/>
          <p:nvPr/>
        </p:nvSpPr>
        <p:spPr>
          <a:xfrm>
            <a:off x="4457700" y="4114799"/>
            <a:ext cx="228600" cy="2286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/>
          <p:cNvSpPr/>
          <p:nvPr/>
        </p:nvSpPr>
        <p:spPr>
          <a:xfrm>
            <a:off x="3733800" y="4024312"/>
            <a:ext cx="228600" cy="2286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/>
          <p:cNvSpPr/>
          <p:nvPr/>
        </p:nvSpPr>
        <p:spPr>
          <a:xfrm>
            <a:off x="2162175" y="4114799"/>
            <a:ext cx="228600" cy="2286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/>
          <p:cNvSpPr/>
          <p:nvPr/>
        </p:nvSpPr>
        <p:spPr>
          <a:xfrm>
            <a:off x="5486400" y="4095748"/>
            <a:ext cx="228600" cy="2286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/>
          <p:cNvSpPr/>
          <p:nvPr/>
        </p:nvSpPr>
        <p:spPr>
          <a:xfrm>
            <a:off x="5029200" y="4043360"/>
            <a:ext cx="228600" cy="2286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/>
          <p:cNvSpPr/>
          <p:nvPr/>
        </p:nvSpPr>
        <p:spPr>
          <a:xfrm>
            <a:off x="3276600" y="4038600"/>
            <a:ext cx="228600" cy="2286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/>
          <p:cNvSpPr/>
          <p:nvPr/>
        </p:nvSpPr>
        <p:spPr>
          <a:xfrm>
            <a:off x="1438275" y="3657600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/>
          <p:cNvSpPr/>
          <p:nvPr/>
        </p:nvSpPr>
        <p:spPr>
          <a:xfrm>
            <a:off x="1933575" y="3720463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/>
          <p:cNvSpPr/>
          <p:nvPr/>
        </p:nvSpPr>
        <p:spPr>
          <a:xfrm>
            <a:off x="2605087" y="3644263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/>
          <p:cNvSpPr/>
          <p:nvPr/>
        </p:nvSpPr>
        <p:spPr>
          <a:xfrm>
            <a:off x="3390900" y="3607113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/>
          <p:cNvSpPr/>
          <p:nvPr/>
        </p:nvSpPr>
        <p:spPr>
          <a:xfrm>
            <a:off x="4114800" y="3682359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/>
          <p:cNvSpPr/>
          <p:nvPr/>
        </p:nvSpPr>
        <p:spPr>
          <a:xfrm>
            <a:off x="4800600" y="3679505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/>
          <p:cNvSpPr/>
          <p:nvPr/>
        </p:nvSpPr>
        <p:spPr>
          <a:xfrm>
            <a:off x="5600700" y="3657600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9" name="Straight Connector 68"/>
          <p:cNvCxnSpPr/>
          <p:nvPr/>
        </p:nvCxnSpPr>
        <p:spPr>
          <a:xfrm>
            <a:off x="1095376" y="3930967"/>
            <a:ext cx="4924424" cy="7048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7662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04800" y="1143000"/>
            <a:ext cx="8534400" cy="5334000"/>
          </a:xfrm>
        </p:spPr>
        <p:txBody>
          <a:bodyPr>
            <a:normAutofit/>
          </a:bodyPr>
          <a:lstStyle/>
          <a:p>
            <a:r>
              <a:rPr lang="es-AR" sz="4000" dirty="0">
                <a:latin typeface="Bahnschrift SemiBold" pitchFamily="34" charset="0"/>
              </a:rPr>
              <a:t>Próxima clase: </a:t>
            </a:r>
            <a:br>
              <a:rPr lang="es-AR" sz="4000" dirty="0">
                <a:latin typeface="Bahnschrift SemiBold" pitchFamily="34" charset="0"/>
              </a:rPr>
            </a:br>
            <a:br>
              <a:rPr lang="es-AR" sz="3200" dirty="0">
                <a:latin typeface="Bahnschrift SemiBold" pitchFamily="34" charset="0"/>
              </a:rPr>
            </a:br>
            <a:r>
              <a:rPr lang="es-AR" sz="3200" dirty="0">
                <a:latin typeface="Bahnschrift SemiBold" pitchFamily="34" charset="0"/>
              </a:rPr>
              <a:t>¿Cómo podemos caracterizar numéricamente nuestros datos?</a:t>
            </a:r>
            <a:br>
              <a:rPr lang="es-AR" sz="3200" dirty="0">
                <a:latin typeface="Bahnschrift SemiBold" pitchFamily="34" charset="0"/>
              </a:rPr>
            </a:br>
            <a:br>
              <a:rPr lang="es-AR" sz="3200" dirty="0">
                <a:latin typeface="Bahnschrift SemiBold" pitchFamily="34" charset="0"/>
              </a:rPr>
            </a:br>
            <a:r>
              <a:rPr lang="es-AR" sz="3200" dirty="0">
                <a:latin typeface="Bahnschrift SemiBold" pitchFamily="34" charset="0"/>
              </a:rPr>
              <a:t>Estadística descriptiva</a:t>
            </a:r>
            <a:br>
              <a:rPr lang="es-AR" sz="3200" dirty="0">
                <a:latin typeface="Bahnschrift SemiBold" pitchFamily="34" charset="0"/>
              </a:rPr>
            </a:br>
            <a:br>
              <a:rPr lang="es-AR" sz="3200" dirty="0">
                <a:latin typeface="Bahnschrift SemiBold" pitchFamily="34" charset="0"/>
              </a:rPr>
            </a:br>
            <a:br>
              <a:rPr lang="es-AR" sz="3200" dirty="0">
                <a:latin typeface="Bahnschrift SemiBold" pitchFamily="34" charset="0"/>
              </a:rPr>
            </a:br>
            <a:endParaRPr lang="en-US" sz="2400" i="1" dirty="0">
              <a:latin typeface="Bahnschrift SemiBol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22746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346</TotalTime>
  <Words>561</Words>
  <Application>Microsoft Macintosh PowerPoint</Application>
  <PresentationFormat>On-screen Show (4:3)</PresentationFormat>
  <Paragraphs>110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Bahnschrift</vt:lpstr>
      <vt:lpstr>Bahnschrift SemiBold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Próxima clase:   ¿Cómo podemos caracterizar numéricamente nuestros datos?  Estadística descriptiva 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Enzo Tagliazucchi</cp:lastModifiedBy>
  <cp:revision>46</cp:revision>
  <dcterms:created xsi:type="dcterms:W3CDTF">2021-03-20T13:12:36Z</dcterms:created>
  <dcterms:modified xsi:type="dcterms:W3CDTF">2026-08-13T17:44:53Z</dcterms:modified>
</cp:coreProperties>
</file>